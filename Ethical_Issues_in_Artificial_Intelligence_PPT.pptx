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BEBB8C-0267-4F4B-8B60-76A3D9067D5A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3F2138-06A4-ED4D-9585-D138795D5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065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topic by explaining that AI is increasingly involved in decisions that affect people. This presentation focuses on the ethical principles needed to make AI safe, fair and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AI in simple terms. Mention that the same capabilities that make AI useful can also create ethical risks when systems are biased, opaque or misused.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Define AI ethics as the principles and practices used to ensure AI is developed and deployed responsibly. Highlight fairness, privacy, transparency and accountability.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Briefly introduce each issue. Tell the audience that these issues are connected: for example, poor transparency can make bias harder to detect, while weak accountability can make harms harder to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flow diagram to show how biased inputs can become biased outputs. Give a simple recruitment example: if historical hiring data favored one group, an AI system trained on it may learn that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privacy is not only about secrecy; it is also about control, appropriate use and protection of personal data. Mention that organizations should limit collection to what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black-box concept. A person may know the input and output but not understand the reasoning. For high-impact decisions, meaningful explanations and avenues for appeal are important.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the principle that AI does not remove human responsibility. Organizations should know who owns a system, who monitors it, and who responds when it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 job displacement as a transition challenge rather than only a threat. Explain that responsible adoption should include training and opportunities for workers to adapt.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deepfakes as synthetic or manipulated media that can appear authentic. Stress the importance of checking sources and improving public awareness rather than assuming every piece of media is genuine.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slide as the practical checklist. Explain that ethical AI is not one feature; it is a combination of fairness, privacy, transparency, accountability, safety, human oversight and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Conclude by reinforcing that ethical AI is about responsible design and use. Invite questions from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457200"/>
            <a:ext cx="1828800" cy="1828800"/>
          </a:xfrm>
          <a:prstGeom prst="ellipse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4389120"/>
            <a:ext cx="2377440" cy="2377440"/>
          </a:xfrm>
          <a:prstGeom prst="ellipse">
            <a:avLst/>
          </a:prstGeom>
          <a:solidFill>
            <a:srgbClr val="2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78240" y="5212080"/>
            <a:ext cx="1097280" cy="1097280"/>
          </a:xfrm>
          <a:prstGeom prst="ellipse">
            <a:avLst/>
          </a:prstGeom>
          <a:solidFill>
            <a:srgbClr val="F0A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80467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AACDFF"/>
                </a:solidFill>
              </a:defRPr>
            </a:pPr>
            <a:r>
              <a:t>ETHICAL ISSUES IN</a:t>
            </a:r>
          </a:p>
          <a:p>
            <a:pPr>
              <a:defRPr sz="3900" b="1">
                <a:solidFill>
                  <a:srgbClr val="FFFFFF"/>
                </a:solidFill>
              </a:defRPr>
            </a:pPr>
            <a:r>
              <a:t>ARTIFICIAL INTELLIGENCE</a:t>
            </a:r>
          </a:p>
          <a:p>
            <a:pPr>
              <a:defRPr sz="1700">
                <a:solidFill>
                  <a:srgbClr val="D7E1F0"/>
                </a:solidFill>
              </a:defRPr>
            </a:pPr>
            <a:r>
              <a:t>Responsible • Fair • Transparent • Human-Centered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16636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Presented by: Pavan Kumar C</a:t>
            </a:r>
            <a:br/>
            <a:r>
              <a:t>Subject: 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41"/>
                </a:solidFill>
              </a:defRPr>
            </a:pPr>
            <a:r>
              <a:t>Introduction to 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2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AI enables machines to perform tasks that normally require human intelligence.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AI can learn from data, recognize patterns, make predictions and support decisions.</a:t>
            </a:r>
          </a:p>
          <a:p>
            <a:pPr>
              <a:spcAft>
                <a:spcPts val="1200"/>
              </a:spcAft>
              <a:defRPr sz="2000">
                <a:solidFill>
                  <a:srgbClr val="232A34"/>
                </a:solidFill>
              </a:defRPr>
            </a:pPr>
            <a:r>
              <a:t>It is used in healthcare, education, banking, transportation, entertainment and business.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417320"/>
            <a:ext cx="338328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82712" y="152704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9696"/>
                </a:solidFill>
              </a:defRPr>
            </a:pPr>
            <a:r>
              <a:t>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527048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Smartphones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2039112"/>
            <a:ext cx="301752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Voice assistants, cameras and personalization.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2788920"/>
            <a:ext cx="338328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82712" y="289864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D69BE"/>
                </a:solidFill>
              </a:defRPr>
            </a:pPr>
            <a:r>
              <a:t>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898648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410712"/>
            <a:ext cx="301752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Streaming, shopping and social-media feeds.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4160520"/>
            <a:ext cx="338328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82712" y="427024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0A63C"/>
                </a:solidFill>
              </a:defRPr>
            </a:pPr>
            <a:r>
              <a:t>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270248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782312"/>
            <a:ext cx="301752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Systems that analyze data and perform tasks.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41"/>
                </a:solidFill>
              </a:defRPr>
            </a:pPr>
            <a:r>
              <a:t>What is AI Ethics?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2"/>
                </a:solidFill>
              </a:defRPr>
            </a:pPr>
            <a:r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4663440" y="2240280"/>
            <a:ext cx="2834640" cy="1463040"/>
          </a:xfrm>
          <a:prstGeom prst="ellipse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92040" y="2578608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AI ETHICS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143000"/>
            <a:ext cx="274320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25272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D69BE"/>
                </a:solidFill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25272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Fairness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764792"/>
            <a:ext cx="2377440" cy="320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Responsible AI principles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143000"/>
            <a:ext cx="274320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05672" y="125272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9696"/>
                </a:solidFill>
              </a:defRPr>
            </a:pPr>
            <a: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125272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Privacy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59" y="1764792"/>
            <a:ext cx="2377440" cy="320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Responsible AI principles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80560"/>
            <a:ext cx="274320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459028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0A63C"/>
                </a:solidFill>
              </a:defRPr>
            </a:pPr>
            <a: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59028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Transparency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02352"/>
            <a:ext cx="2377440" cy="320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Responsible AI principles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4480560"/>
            <a:ext cx="274320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77072" y="459028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D69BE"/>
                </a:solidFill>
              </a:defRPr>
            </a:pPr>
            <a: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459028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Accountability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5102352"/>
            <a:ext cx="2377440" cy="320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Responsible AI principles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41"/>
                </a:solidFill>
              </a:defRPr>
            </a:pPr>
            <a:r>
              <a:t>Major Ethical Issues in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2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251460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35607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D69BE"/>
                </a:solidFill>
              </a:defRPr>
            </a:pPr>
            <a: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35607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Bias &amp; Discrimination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47672"/>
            <a:ext cx="214884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Unfair outcomes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325880"/>
            <a:ext cx="251460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9312" y="1435607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9696"/>
                </a:solidFill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435607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Privacy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947672"/>
            <a:ext cx="214884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Misuse of personal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25880"/>
            <a:ext cx="251460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1" y="1435607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0A63C"/>
                </a:solidFill>
              </a:defRPr>
            </a:pPr>
            <a: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435607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Transparency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947672"/>
            <a:ext cx="214884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Black-box decisions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59" y="1325880"/>
            <a:ext cx="251460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17151" y="1435607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D69BE"/>
                </a:solidFill>
              </a:defRPr>
            </a:pPr>
            <a: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59" y="1435607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Accountability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39" y="1947672"/>
            <a:ext cx="214884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Who is responsible?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291839"/>
            <a:ext cx="251460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" y="340156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9696"/>
                </a:solidFill>
              </a:defRPr>
            </a:pPr>
            <a: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401568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Job Displacement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913631"/>
            <a:ext cx="214884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Changing work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3291839"/>
            <a:ext cx="251460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39312" y="340156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0A63C"/>
                </a:solidFill>
              </a:defRPr>
            </a:pPr>
            <a: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3401568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Security &amp; Misuse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913631"/>
            <a:ext cx="214884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Attacks and abuse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291839"/>
            <a:ext cx="251460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28231" y="340156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D69BE"/>
                </a:solidFill>
              </a:defRPr>
            </a:pPr>
            <a:r>
              <a:t>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401568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Misinformation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913631"/>
            <a:ext cx="214884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Deepfakes &amp; fake content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2559" y="3291839"/>
            <a:ext cx="251460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17151" y="340156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9696"/>
                </a:solidFill>
              </a:defRPr>
            </a:pPr>
            <a:r>
              <a:t>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59" y="3401568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Human 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39" y="3913631"/>
            <a:ext cx="214884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Autonomy &amp; oversight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41"/>
                </a:solidFill>
              </a:defRPr>
            </a:pPr>
            <a:r>
              <a:t>Bias and Discrimination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2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6766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AI systems learn patterns from training data. If that data contains historical bias, the model may reproduce it.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Biased AI can affect recruitment, lending, healthcare, facial recognition and other high-impact decisions.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Ethical response: use diverse data, test for bias regularly and include human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2286000"/>
            <a:ext cx="1600200" cy="137160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9871" y="239572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D69BE"/>
                </a:solidFill>
              </a:defRPr>
            </a:pPr>
            <a: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2395728"/>
            <a:ext cx="777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Biased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2907792"/>
            <a:ext cx="1234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9555480" y="2697480"/>
            <a:ext cx="411480" cy="411480"/>
          </a:xfrm>
          <a:prstGeom prst="rightArrow">
            <a:avLst/>
          </a:prstGeom>
          <a:solidFill>
            <a:srgbClr val="697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098280" y="2286000"/>
            <a:ext cx="1600200" cy="137160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62872" y="239572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9696"/>
                </a:solidFill>
              </a:defRPr>
            </a:pPr>
            <a: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395728"/>
            <a:ext cx="777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AI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59" y="2907792"/>
            <a:ext cx="1234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10698480" y="2697480"/>
            <a:ext cx="411480" cy="411480"/>
          </a:xfrm>
          <a:prstGeom prst="rightArrow">
            <a:avLst/>
          </a:prstGeom>
          <a:solidFill>
            <a:srgbClr val="697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41280" y="2286000"/>
            <a:ext cx="1600200" cy="137160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405872" y="239572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0A63C"/>
                </a:solidFill>
              </a:defRPr>
            </a:pPr>
            <a: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2395728"/>
            <a:ext cx="777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Unfair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9" y="2907792"/>
            <a:ext cx="1234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41"/>
                </a:solidFill>
              </a:defRPr>
            </a:pPr>
            <a:r>
              <a:t>Privacy and Data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2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6949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AI often requires large amounts of personal or behavioral data.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Poor data practices can expose sensitive information or reduce users' control over their information.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Ethical practices include appropriate consent, data minimization, security and clear explanations of data 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06324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11312" y="157276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D69BE"/>
                </a:solidFill>
              </a:defRPr>
            </a:pPr>
            <a: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1572768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Collect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084832"/>
            <a:ext cx="2697480" cy="320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Only what is necessary.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788920"/>
            <a:ext cx="306324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1312" y="289864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9696"/>
                </a:solidFill>
              </a:defRPr>
            </a:pPr>
            <a: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898648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Protect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410712"/>
            <a:ext cx="2697480" cy="320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Secure data against misuse.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114800"/>
            <a:ext cx="306324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1312" y="422452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0A63C"/>
                </a:solidFill>
              </a:defRPr>
            </a:pPr>
            <a: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4224528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736592"/>
            <a:ext cx="2697480" cy="320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Give users meaningful choices.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41"/>
                </a:solidFill>
              </a:defRPr>
            </a:pPr>
            <a:r>
              <a:t>Transparency and Explainability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2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6675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Some AI systems are difficult to understand, creating a 'black box' problem.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For important decisions, users should receive meaningful information about why a decision was made.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Explainability helps people identify errors, challenge decisions and build trust.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965960"/>
            <a:ext cx="2926080" cy="1828800"/>
          </a:xfrm>
          <a:prstGeom prst="round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251460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</a:defRPr>
            </a:pPr>
            <a:r>
              <a:t>AI</a:t>
            </a:r>
            <a:br/>
            <a:r>
              <a:t>“BLACK BOX”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5146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32A34"/>
                </a:solidFill>
              </a:defRPr>
            </a:pPr>
            <a: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25146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32A34"/>
                </a:solidFill>
              </a:defRPr>
            </a:pPr>
            <a:r>
              <a:t>Decision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41"/>
                </a:solidFill>
              </a:defRPr>
            </a:pPr>
            <a:r>
              <a:t>Accountability and 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2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When AI causes harm, responsibility should not disappear simply because a machine made the decision.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Developers, organizations, operators and human decision-makers may each have responsibilities.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Good governance includes monitoring, documentation, human intervention and mechanisms to appeal important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325880"/>
            <a:ext cx="201168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28431" y="1435607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D69BE"/>
                </a:solidFill>
              </a:defRPr>
            </a:pPr>
            <a: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435607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Developers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9" y="1947672"/>
            <a:ext cx="1645920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509760" y="2514600"/>
            <a:ext cx="201168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262432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9696"/>
                </a:solidFill>
              </a:defRPr>
            </a:pPr>
            <a: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5560" y="2624328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Organizations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3136392"/>
            <a:ext cx="1645920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863840" y="3886200"/>
            <a:ext cx="201168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28431" y="399592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0A63C"/>
                </a:solidFill>
              </a:defRPr>
            </a:pPr>
            <a: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995928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Operators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4507992"/>
            <a:ext cx="1645920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509760" y="4983480"/>
            <a:ext cx="201168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509320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D69BE"/>
                </a:solidFill>
              </a:defRPr>
            </a:pPr>
            <a: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5560" y="5093208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5605272"/>
            <a:ext cx="1645920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41"/>
                </a:solidFill>
              </a:defRPr>
            </a:pPr>
            <a:r>
              <a:t>Job Displacement and Economic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2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6766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Automation can perform repetitive tasks and may change or reduce demand for some roles.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AI can also create new jobs and increase productivity when humans and AI work together.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Ethical responses include reskilling, upskilling, education and support for affected workers.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417320"/>
            <a:ext cx="3154680" cy="137160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9871" y="152704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D69BE"/>
                </a:solidFill>
              </a:defRPr>
            </a:pPr>
            <a: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1527048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2039112"/>
            <a:ext cx="2788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Efficiency and productivity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246120"/>
            <a:ext cx="3154680" cy="137160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19871" y="335584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9696"/>
                </a:solidFill>
              </a:defRPr>
            </a:pPr>
            <a: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355848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New 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3867911"/>
            <a:ext cx="2788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Reskilling and adaptation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5074920"/>
            <a:ext cx="3154680" cy="100584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19871" y="518464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0A63C"/>
                </a:solidFill>
              </a:defRPr>
            </a:pPr>
            <a: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5184648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5696712"/>
            <a:ext cx="2788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Human + AI collaboration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41"/>
                </a:solidFill>
              </a:defRPr>
            </a:pPr>
            <a:r>
              <a:t>Misinformation, Deepfakes and AI Misuse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2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6766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Generative AI can create realistic text, images, audio and video.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Misuse can enable misinformation, impersonation, fraud and reputational harm.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Responsible responses include verification, provenance or labeling where appropriate, detection tools and AI literacy.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2331720"/>
            <a:ext cx="1645920" cy="137160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74152" y="244144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D69BE"/>
                </a:solidFill>
              </a:defRPr>
            </a:pPr>
            <a: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4414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Generate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953512"/>
            <a:ext cx="1280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052560" y="2331720"/>
            <a:ext cx="1645920" cy="137160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17152" y="244144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9696"/>
                </a:solidFill>
              </a:defRPr>
            </a:pPr>
            <a: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24414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Manipulate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953512"/>
            <a:ext cx="1280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195560" y="2331720"/>
            <a:ext cx="1645920" cy="137160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60152" y="244144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0A63C"/>
                </a:solidFill>
              </a:defRPr>
            </a:pPr>
            <a: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24414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Mislead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78440" y="2953512"/>
            <a:ext cx="1280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41"/>
                </a:solidFill>
              </a:defRPr>
            </a:pPr>
            <a:r>
              <a:t>How Can We Build Ethical AI?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2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256032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435607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D69BE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435607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Fairness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47672"/>
            <a:ext cx="219456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Avoid unjust discrimination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325880"/>
            <a:ext cx="256032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9312" y="1435607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9696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435607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Privacy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947672"/>
            <a:ext cx="219456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Protect personal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25880"/>
            <a:ext cx="256032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2" y="1435607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0A63C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435607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Transparency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47672"/>
            <a:ext cx="219456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Make important decisions understandable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325880"/>
            <a:ext cx="256032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08592" y="1435607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D69BE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1435607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Accountability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947672"/>
            <a:ext cx="219456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Assign responsibility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291839"/>
            <a:ext cx="256032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1" y="340156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9696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401568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Safety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3913631"/>
            <a:ext cx="219456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Test and monitor systems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3291839"/>
            <a:ext cx="256032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39312" y="340156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0A63C"/>
                </a:solidFill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3401568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Human Oversight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913631"/>
            <a:ext cx="219456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Allow intervention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291839"/>
            <a:ext cx="256032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73952" y="340156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D69BE"/>
                </a:solidFill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3401568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41"/>
                </a:solidFill>
              </a:defRPr>
            </a:pPr>
            <a:r>
              <a:t>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913631"/>
            <a:ext cx="219456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Protect against attacks and misuse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9875520" cy="2926080"/>
          </a:xfrm>
          <a:prstGeom prst="rect">
            <a:avLst/>
          </a:prstGeom>
          <a:noFill/>
          <a:ln>
            <a:solidFill>
              <a:schemeClr val="bg1">
                <a:lumMod val="9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A34"/>
                </a:solidFill>
              </a:defRPr>
            </a:pPr>
            <a:r>
              <a:t>AI offers major benefits, but ethical risks must be addressed alongside technical performance.</a:t>
            </a:r>
          </a:p>
          <a:p>
            <a:pPr>
              <a:spcAft>
                <a:spcPts val="1200"/>
              </a:spcAft>
              <a:defRPr sz="2100">
                <a:solidFill>
                  <a:srgbClr val="232A34"/>
                </a:solidFill>
              </a:defRPr>
            </a:pPr>
            <a:r>
              <a:t>Responsible AI requires cooperation among developers, organizations, governments, researchers and users.</a:t>
            </a:r>
          </a:p>
          <a:p>
            <a:pPr>
              <a:spcAft>
                <a:spcPts val="1200"/>
              </a:spcAft>
              <a:defRPr sz="2100">
                <a:solidFill>
                  <a:srgbClr val="232A34"/>
                </a:solidFill>
              </a:defRPr>
            </a:pPr>
            <a:r>
              <a:t>The goal is to create AI that is safe, fair, trustworthy and human-centered.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4892040"/>
            <a:ext cx="11" cy="1"/>
          </a:xfrm>
          <a:prstGeom prst="roundRect">
            <a:avLst/>
          </a:prstGeom>
          <a:solidFill>
            <a:srgbClr val="23375A"/>
          </a:solidFill>
          <a:ln>
            <a:solidFill>
              <a:srgbClr val="4B6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25880" y="5074920"/>
            <a:ext cx="941832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FFFFFF"/>
                </a:solidFill>
              </a:defRPr>
            </a:pPr>
            <a:r>
              <a:t>“The future of AI depends not only on what AI can do, but on how responsibly we use it.”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Pavan Kumar</cp:lastModifiedBy>
  <cp:revision>2</cp:revision>
  <dcterms:created xsi:type="dcterms:W3CDTF">2013-01-27T09:14:16Z</dcterms:created>
  <dcterms:modified xsi:type="dcterms:W3CDTF">2026-08-29T04:03:51Z</dcterms:modified>
  <cp:category/>
</cp:coreProperties>
</file>